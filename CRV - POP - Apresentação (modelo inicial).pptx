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432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81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5943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65760" y="502920"/>
            <a:ext cx="3840480" cy="292608"/>
          </a:xfrm>
          <a:prstGeom prst="rect">
            <a:avLst>
              <a:gd name="adj" fmla="val 12500"/>
            </a:avLst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38124"/>
            <a:ext cx="6939998" cy="420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PP COLORID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119" y="133350"/>
            <a:ext cx="2503755" cy="324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DA APRESENTAÇÃO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CRV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Missão, estrutura e base normativa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Pena Justa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167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nacional e papel da CRV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679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Normativa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898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Conjunta nº 1/2026 — TJSC + SEJURI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de Transferência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630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situações previstas na Resolução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16052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142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Operacional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361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passos do processo de transferência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Necessários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435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estar no processo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Ofícios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167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integrada ao SGPe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69748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2679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Vedações e Prazos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2898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 e quando agir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2900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— Funcionalidades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630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 plataforma digital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160520"/>
            <a:ext cx="41148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142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4361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e implementação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45152" y="1188720"/>
            <a:ext cx="0" cy="3703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CRV — Central de Regulação de Vagas · Polícia Penal SC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88720" y="384048"/>
            <a:ext cx="0" cy="41148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CRV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051560"/>
          </a:xfrm>
          <a:prstGeom prst="rect">
            <a:avLst/>
          </a:prstGeom>
          <a:solidFill>
            <a:srgbClr val="1A3A6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78992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</a:t>
            </a: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Regulação de Vagas (CRV)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órgão subordinado diretamente ao Diretor Geral do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Polícia Penal, responsável por analisar, coordenar e autorizar todas as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de pessoas privadas de liberdade no sistema prisional de Santa Catarina.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697480" cy="26060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269748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317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9768" y="2999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" y="34290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cada pedido de transferência conforme as hipóteses da Res. nº 1/2026 e a capacidade das unidades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697480" cy="26060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240280"/>
            <a:ext cx="269748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3317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10128" y="2999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34290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</a:t>
            </a:r>
            <a:r>
              <a:rPr lang="en-US" sz="11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Judiciário, Secretarias e Superintendências Regionais para executar as transferências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240280"/>
            <a:ext cx="2697480" cy="26060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2240280"/>
            <a:ext cx="269748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3317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90488" y="2999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0488" y="34290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a ocupação prisional e distribui custodiados de forma equilibrada entre as unidades do Estado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B429"/>
                </a:solidFill>
              </a:rPr>
              <a:t>02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74320"/>
            <a:ext cx="0" cy="45720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PLANO PENA JUSTA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nacional lançada em 2024, com vigência até 2027, para enfrentar o "estado de coisas inconstitucional" do sistema prisional brasileiro — declarado pelo STF — coordenada pelo SENAPPEN (MJSP) e pelo CNJ.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03120"/>
            <a:ext cx="20116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03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EIXO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7614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Vagas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da entrada e redução da superlotação, evitando o uso excessivo da prisão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210312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03120"/>
            <a:ext cx="201168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03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EIXO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7614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Prisional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291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da infraestrutura, qualidade dos serviços, saúde e higiene nas prisões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10312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103120"/>
            <a:ext cx="2011680" cy="5669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103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EIXO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27614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Ressocialização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291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Educação, trabalho e acompanhamento pós-penal para reintegração social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10312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2103120"/>
            <a:ext cx="201168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103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EIXO 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27614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Crise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3291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 entre governos estadual, federal e Judiciário para garantir melhorias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A CRV é uma das ferramentas estratégicas centrais do Plano Pena Justa — meta nacional com 10 estados em fase final de instalação em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</a:rPr>
              <a:t>03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88720" y="384048"/>
            <a:ext cx="0" cy="41148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BASE NORMATIVA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206240" cy="384048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420624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70432"/>
            <a:ext cx="3877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Conjunta Interinstitucional nº 1/2026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TJSC + SEJURI · DJ nº 4.661 · 04/02/2026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121408"/>
            <a:ext cx="36576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12848"/>
            <a:ext cx="385876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6 hipóteses de transferência autorizadas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prazos, fluxos e responsabilidades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regulamenta a Central de Regulação de Vagas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 a obrigatoriedade do uso do i-PEN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competências do TJSC, DPP e unidades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206240" cy="384048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20624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170432"/>
            <a:ext cx="3877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Normativa nº 2.189/2025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783080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DPP — Departamento de Polícia Penal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19472" y="2121408"/>
            <a:ext cx="36576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212848"/>
            <a:ext cx="385876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 internamente os procedimentos da </a:t>
            </a:r>
            <a:r>
              <a:rPr lang="en-US" sz="110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</a:t>
            </a:r>
            <a:r>
              <a:rPr lang="en-US" sz="11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Penal do Estado de Santa </a:t>
            </a:r>
            <a:r>
              <a:rPr lang="en-US" sz="110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Catarina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atribuições dos Diretores e SRs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o fluxo de documentação obrigatória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 o uso do SGPe e do i-PEN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Dispõe sobre vedações e penalidades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B429"/>
                </a:solidFill>
              </a:rPr>
              <a:t>04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74320"/>
            <a:ext cx="0" cy="45720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HIPÓTESES DE TRANSFERÊNCIA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70432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6968" y="126187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/ Emergência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82880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imediato à integridade física, ameaça à vida ou necessidade de isolamento urgente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15184"/>
            <a:ext cx="11887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URGENTE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170432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70432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58768" y="126187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Permutas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82880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Requerimento do custodiado, familiar, advogado ou defensor. Vinculado ao Programa de Permutas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615184"/>
            <a:ext cx="118872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PERMUTA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72200" y="1170432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170432"/>
            <a:ext cx="283464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smtClean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30568" y="126187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da Capacidade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81928" y="182880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 administrativa para adequação da capacidade das unidades (Art. 21, III)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2615184"/>
            <a:ext cx="118872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ADMINISTRATIVO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072384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072384"/>
            <a:ext cx="283464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163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smtClean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86968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Mandado de Comarca Diversa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" y="373075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Preso capturado em comarca diferente da que expediu a ordem de prisão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517136"/>
            <a:ext cx="11887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JUDICIAL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0" y="3072384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072384"/>
            <a:ext cx="2834640" cy="54864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163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858768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Pernoite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0128" y="373075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Custodiado que necessita permanecer temporariamente em unidade diversa da sua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4517136"/>
            <a:ext cx="1188720" cy="201168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PONTUAL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72200" y="3072384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3072384"/>
            <a:ext cx="2834640" cy="5486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163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30568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Máxima / RDD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81928" y="373075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via Comissão Deliberativa + DPP. Requer RDD deferido pelo Juízo competente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4517136"/>
            <a:ext cx="1188720" cy="20116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ESPECIAL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Todo pedido deve se enquadrar em uma das hipóteses acima — pedidos sem enquadramento serão indeferidos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</a:rPr>
              <a:t>05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88720" y="384048"/>
            <a:ext cx="0" cy="41148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FLUXO OPERACIONAL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33856" y="1444752"/>
            <a:ext cx="31089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 hipótese legal aplicável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53896" y="100584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53896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386584" y="1444752"/>
            <a:ext cx="31089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9304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movimentação no sistema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06624" y="100584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06624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39312" y="1444752"/>
            <a:ext cx="31089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42032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toda a documentação exigida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59352" y="100584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59352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92040" y="1444752"/>
            <a:ext cx="31089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+ SR assinam o ofício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100584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144768" y="1444752"/>
            <a:ext cx="31089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i-PEN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 no sistema i-PEN obrigatório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64808" y="1005840"/>
            <a:ext cx="914400" cy="9144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6480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6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397496" y="1444752"/>
            <a:ext cx="31089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0216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análise e deliberação da CRV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17536" y="1005840"/>
            <a:ext cx="9144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17536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52944" y="20299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52944" y="2395728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a transferência autorizada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" y="1463040"/>
            <a:ext cx="781812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20040" y="3200400"/>
            <a:ext cx="8503920" cy="16916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200400"/>
            <a:ext cx="54864" cy="16916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273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Pontos críticos do fluxo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SGPe (passo 2):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registro obrigatório antes de qualquer movimentação física.  </a:t>
            </a:r>
            <a:endParaRPr lang="en-US" sz="1100" dirty="0" smtClean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en-US" sz="1100" b="1" dirty="0" smtClean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i-PEN </a:t>
            </a: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(passo 5):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r>
              <a:rPr lang="en-US" sz="11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sz="1100" b="1" dirty="0" smtClean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CRV </a:t>
            </a: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(passo 6):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nenhuma transferência pode ser executada sem deliberação prévia da CRV.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B429"/>
                </a:solidFill>
              </a:rPr>
              <a:t>06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74320"/>
            <a:ext cx="0" cy="45720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DOCUMENTOS NECESSÁRIOS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70432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📋  Documentos Obrigatórios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de Solicitação de Transferência (modelo CRV)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Recolhimento ou Mandado de Prisão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 err="1" smtClean="0"/>
              <a:t>Boletim</a:t>
            </a:r>
            <a:r>
              <a:rPr lang="en-US" sz="1000" dirty="0" smtClean="0"/>
              <a:t> Penal </a:t>
            </a:r>
            <a:r>
              <a:rPr lang="en-US" sz="1000" dirty="0" err="1" smtClean="0"/>
              <a:t>Informativo</a:t>
            </a:r>
            <a:r>
              <a:rPr lang="en-US" sz="1000" dirty="0" smtClean="0"/>
              <a:t> (BPI) </a:t>
            </a:r>
            <a:r>
              <a:rPr lang="en-US" sz="1000" dirty="0" err="1" smtClean="0"/>
              <a:t>atualizado</a:t>
            </a: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000" dirty="0" smtClean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70432"/>
            <a:ext cx="28346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📄  Conforme a Hipótese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755648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Segurança/Emergência: Relatório circunstanciado do evento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Permuta: Requerimento assinado pelo custodiado/responsável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Mandado Comarca Diversa: Cópia do mandado judicial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Máxima/RDD: Decisão judicial de RDD + deliberação da Comissão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Pernoite: Justificativa formal da unidade solicitante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70432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70432"/>
            <a:ext cx="283464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✍️  Assinaturas Exigidas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755648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da Unidade Prisional de Origem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Superintendente Regional de Origem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da Unidade de Destino (quando aplicável)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Superintendente Regional de Destino (quando SR diferente)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SGPe</a:t>
            </a:r>
            <a:endParaRPr lang="en-US" sz="1000" dirty="0" smtClean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iPEN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Processo incompleto → Devolução imediata pela CRV sem análise de mérito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</a:rPr>
              <a:t>07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88720" y="384048"/>
            <a:ext cx="0" cy="41148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MODELOS DE OFÍCIOS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749808"/>
          </a:xfrm>
          <a:prstGeom prst="rect">
            <a:avLst/>
          </a:prstGeom>
          <a:solidFill>
            <a:srgbClr val="1A3A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O site gera automaticamente o texto do ofício com os dados da unidade e do custodiado — campos editáveis em amarelo, texto fixo protegido. Integração com dados do SGPe.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697480" cy="1298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54864" cy="1298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/ Emergência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48716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urgente ao Judiciário e à CRV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2697480" cy="1298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920240"/>
            <a:ext cx="54864" cy="1298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0332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de Capacidade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248716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para redistribuição administrativa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2697480" cy="1298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920240"/>
            <a:ext cx="54864" cy="1298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Mandado Comarca Diversa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48716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de recebimento de preso de outra comarca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2697480" cy="1298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83280"/>
            <a:ext cx="54864" cy="1298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3456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Seg. Máxima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9502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para encaminhamento à 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USM/RDD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Obs.: </a:t>
            </a:r>
            <a:r>
              <a:rPr lang="en-US" sz="1050" dirty="0" err="1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Necessidade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de </a:t>
            </a:r>
            <a:r>
              <a:rPr lang="en-US" sz="1050" dirty="0" err="1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análise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pela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Comissão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3383280"/>
            <a:ext cx="2697480" cy="1298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383280"/>
            <a:ext cx="54864" cy="1298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03320" y="3456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ao Juízo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03320" y="39502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Ofícios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— seletor automático no site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3383280"/>
            <a:ext cx="2697480" cy="1298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3383280"/>
            <a:ext cx="54864" cy="1298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3680" y="3456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Pernoite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39502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de autorização de pernoite temporário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B429"/>
                </a:solidFill>
              </a:rPr>
              <a:t>08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74320"/>
            <a:ext cx="0" cy="45720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VEDAÇÕES E PRAZOS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41605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🚫  VEDAÇÕES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sem autorização prévia da CRV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sem registro no SGPe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sem lançamento no i-PEN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custodiado doente sem relatório médico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para unidade sem capacidade disponível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custodiado em processo disciplinar ativo sem anuência da CRV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transferência fora das hipóteses previstas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70432"/>
            <a:ext cx="41605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704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⏱️  PRAZOS MÁXIMOS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783080"/>
            <a:ext cx="3886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379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/ Emergência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1837944"/>
            <a:ext cx="11430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8379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</a:rPr>
              <a:t>URGENTE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04288"/>
            <a:ext cx="3886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591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Permutas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52360" y="2359152"/>
            <a:ext cx="11430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3591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solidFill>
                  <a:srgbClr val="FFFFFF"/>
                </a:solidFill>
              </a:rPr>
              <a:t>Conforme</a:t>
            </a:r>
            <a:r>
              <a:rPr lang="en-US" sz="900" b="1" dirty="0">
                <a:solidFill>
                  <a:srgbClr val="FFFFFF"/>
                </a:solidFill>
              </a:rPr>
              <a:t> </a:t>
            </a:r>
            <a:r>
              <a:rPr lang="en-US" sz="900" b="1" dirty="0" err="1">
                <a:solidFill>
                  <a:srgbClr val="FFFFFF"/>
                </a:solidFill>
              </a:rPr>
              <a:t>Cronograma</a:t>
            </a:r>
            <a:r>
              <a:rPr lang="en-US" sz="900" b="1" dirty="0">
                <a:solidFill>
                  <a:srgbClr val="FFFFFF"/>
                </a:solidFill>
              </a:rPr>
              <a:t> e </a:t>
            </a:r>
            <a:r>
              <a:rPr lang="en-US" sz="900" b="1" dirty="0" err="1">
                <a:solidFill>
                  <a:srgbClr val="FFFFFF"/>
                </a:solidFill>
              </a:rPr>
              <a:t>Possibilidade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825496"/>
            <a:ext cx="3886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880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de Capacidade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2880360"/>
            <a:ext cx="114300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8803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 smtClean="0">
                <a:solidFill>
                  <a:srgbClr val="FFFFFF"/>
                </a:solidFill>
              </a:rPr>
              <a:t>Conforme</a:t>
            </a:r>
            <a:r>
              <a:rPr lang="en-US" sz="900" b="1" dirty="0" smtClean="0">
                <a:solidFill>
                  <a:srgbClr val="FFFFFF"/>
                </a:solidFill>
              </a:rPr>
              <a:t> </a:t>
            </a:r>
            <a:r>
              <a:rPr lang="en-US" sz="900" b="1" dirty="0" err="1" smtClean="0">
                <a:solidFill>
                  <a:srgbClr val="FFFFFF"/>
                </a:solidFill>
              </a:rPr>
              <a:t>Cronograma</a:t>
            </a:r>
            <a:r>
              <a:rPr lang="en-US" sz="900" b="1" dirty="0" smtClean="0">
                <a:solidFill>
                  <a:srgbClr val="FFFFFF"/>
                </a:solidFill>
              </a:rPr>
              <a:t> e </a:t>
            </a:r>
            <a:r>
              <a:rPr lang="en-US" sz="900" b="1" dirty="0" err="1" smtClean="0">
                <a:solidFill>
                  <a:srgbClr val="FFFFFF"/>
                </a:solidFill>
              </a:rPr>
              <a:t>Possibilidade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346704"/>
            <a:ext cx="3886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01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Mandado Comarca Diversa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52360" y="3401568"/>
            <a:ext cx="114300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34015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solidFill>
                  <a:srgbClr val="FFFFFF"/>
                </a:solidFill>
              </a:rPr>
              <a:t>Conforme</a:t>
            </a:r>
            <a:r>
              <a:rPr lang="en-US" sz="900" b="1" dirty="0">
                <a:solidFill>
                  <a:srgbClr val="FFFFFF"/>
                </a:solidFill>
              </a:rPr>
              <a:t> </a:t>
            </a:r>
            <a:r>
              <a:rPr lang="en-US" sz="900" b="1" dirty="0" err="1">
                <a:solidFill>
                  <a:srgbClr val="FFFFFF"/>
                </a:solidFill>
              </a:rPr>
              <a:t>Cronograma</a:t>
            </a:r>
            <a:r>
              <a:rPr lang="en-US" sz="900" b="1" dirty="0">
                <a:solidFill>
                  <a:srgbClr val="FFFFFF"/>
                </a:solidFill>
              </a:rPr>
              <a:t> e </a:t>
            </a:r>
            <a:r>
              <a:rPr lang="en-US" sz="900" b="1" dirty="0" err="1">
                <a:solidFill>
                  <a:srgbClr val="FFFFFF"/>
                </a:solidFill>
              </a:rPr>
              <a:t>Possibilidade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867912"/>
            <a:ext cx="3886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227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Pernoite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52360" y="3922776"/>
            <a:ext cx="1143000" cy="329184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92277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Conf. deliberação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4389120"/>
            <a:ext cx="3886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4439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Máxima / RDD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4443984"/>
            <a:ext cx="1143000" cy="32918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4439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</a:rPr>
              <a:t>URGENTE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</a:rPr>
              <a:t>09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88720" y="384048"/>
            <a:ext cx="0" cy="41148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O SITE — FUNCIONALIDADES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solidFill>
            <a:srgbClr val="1A3A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crv-dpp-sc.github.io/POP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Acesso gratuito, sem login, disponível 24h para todos os servidores autorizados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697480" cy="150876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9848" y="1737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Completo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2860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procedimentos, prazos, vedações, documentos e legislação em um só lugar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627632"/>
            <a:ext cx="2697480" cy="150876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50208" y="1737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Ofícios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2860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automaticamente o texto do ofício. Preenche dados da unidade, SR e CRV. Exporta para copiar e assinar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627632"/>
            <a:ext cx="2697480" cy="150876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30568" y="1737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Interativo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228600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passo a passo do processo com alertas e pontos críticos destacados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697480" cy="150876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401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69848" y="34015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Prisionais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950208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completos de todas as unidades: SR, diretor, e-mail, telefone e capacidade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291840"/>
            <a:ext cx="2697480" cy="150876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0" y="3401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50208" y="34015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e Erros Comuns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950208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prontas às dúvidas mais frequentes e orientações sobre os erros mais recorrentes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3291840"/>
            <a:ext cx="2697480" cy="150876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3401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30568" y="34015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Escuro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0488" y="3950208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adaptável para uso noturno ou em ambientes com pouca iluminação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FISCALIZAÇÃO E TRANSPARÊNCIA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GMF/TJSC — Grupo de Monitoramento e Fiscalização do TJSC
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CRV é fiscalizada, monitorada e avaliada continuamente pelo GMF, sob responsabilidade do juiz coordenador.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2011680" cy="269748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1828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contínuo da ocupação e dos fluxos de transferência em todo o Estado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2103120"/>
            <a:ext cx="2011680" cy="269748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291840"/>
            <a:ext cx="1828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periódica dos indicadores de conformidade e eficiência do sistema CRV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2011680" cy="269748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291840"/>
            <a:ext cx="1828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do cumprimento dos prazos e procedimentos pelas unidades e Superintendências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2011680" cy="269748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291840"/>
            <a:ext cx="1828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de irregularidades e encaminhamento às instâncias competentes do Judiciário e do Executivo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PORTAL ONLINE — PEDIDO DE TRANSFERÊNCIA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Preso, familiar, advogado ou defensor público podem solicitar transferência diretamente pelo Portal da Polícia Penal SC (ppsc.com.br) — sem necessidade de comparecimento presencial à unidade. As solicitações são analisadas pela CRV e vinculadas ao Programa de Permutas.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304288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solicitar transferência para unidade mais próxima da residência familiar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2304288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👨‍⚖️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/ Defensor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45643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Protocola requerimento diretamente pelo portal, sem precisar ir à unidade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304288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45643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solicitar permuta com custodiado de outra unidade que também deseja a transferência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304288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45643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solicitações passam pela análise técnica e deliberação da CRV antes de qualquer movimentação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</a:rPr>
              <a:t>🌐  ppsc.com.br  —  Portal da Polícia Penal SC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PRINCÍPIOS FUNDAMENTAIS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1828800"/>
          </a:xfrm>
          <a:prstGeom prst="rect">
            <a:avLst/>
          </a:prstGeom>
          <a:solidFill>
            <a:srgbClr val="0D2040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Dignidade da Pessoa Humana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1º, III da CF/88 — impõe ao Estado o dever de assegurar condições dignas de custódia, vedando tratamento degradante ou desumano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1828800"/>
          </a:xfrm>
          <a:prstGeom prst="rect">
            <a:avLst/>
          </a:prstGeom>
          <a:solidFill>
            <a:srgbClr val="0D2040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8755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7899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86200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1907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transferência deve ter respaldo expresso na Res. nº 1/2026 — nenhuma movimentação ocorre fora dos limites normativos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987552"/>
            <a:ext cx="2743200" cy="1828800"/>
          </a:xfrm>
          <a:prstGeom prst="rect">
            <a:avLst/>
          </a:prstGeom>
          <a:solidFill>
            <a:srgbClr val="0D2040"/>
          </a:solidFill>
          <a:ln w="1905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87552"/>
            <a:ext cx="27432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7899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Interinstitucionalidade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71907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CRV opera na interface entre o Poder Judiciário e o Poder Executivo — as decisões são compartilhadas e transparentes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2743200" cy="1828800"/>
          </a:xfrm>
          <a:prstGeom prst="rect">
            <a:avLst/>
          </a:prstGeom>
          <a:solidFill>
            <a:srgbClr val="0D204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80944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7238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307238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71246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racional de vagas reduz a superlotação, melhora a segurança e otimiza os recursos do Estado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80944"/>
            <a:ext cx="2743200" cy="1828800"/>
          </a:xfrm>
          <a:prstGeom prst="rect">
            <a:avLst/>
          </a:prstGeom>
          <a:solidFill>
            <a:srgbClr val="0D204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80944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7238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886200" y="307238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71246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processos são registrados, rastreáveis e sujeitos à fiscalização do GMF/TJSC e das autoridades competentes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80944"/>
            <a:ext cx="2743200" cy="1828800"/>
          </a:xfrm>
          <a:prstGeom prst="rect">
            <a:avLst/>
          </a:prstGeom>
          <a:solidFill>
            <a:srgbClr val="0D2040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80944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07238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12280" y="307238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Ressocialização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371246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racional das vagas contribui para a reintegração social, aproximando o custodiado da família e das oportunidades de trabalho e educação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B429"/>
                </a:solidFill>
              </a:rPr>
              <a:t>10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74320"/>
            <a:ext cx="0" cy="45720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PRÓXIMOS PASSOS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54864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335024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2252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Divulgação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60934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 link do site a todos os Diretores de Unidades Prisionais e Superintendentes Regionais via circular oficial do DPP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21408"/>
            <a:ext cx="54864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286000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1762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Capacitação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560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prático com os servidores responsáveis pela elaboração dos pedidos de transferência — foco no gerador de ofícios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72384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72384"/>
            <a:ext cx="54864" cy="8412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236976"/>
            <a:ext cx="512064" cy="51206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36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1272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Atualização Contínua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5112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será atualizado sempre que houver alteração normativa, novo modelo de ofício ou orientação da CRV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23360"/>
            <a:ext cx="54864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187952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187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0782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SGPe</a:t>
            </a:r>
            <a:r>
              <a:rPr lang="en-US" sz="13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4622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para integração direta com o </a:t>
            </a:r>
            <a:r>
              <a:rPr lang="en-US" sz="10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SGPe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iPEN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preenchimento automático dos dados das unidades e dos custodiados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CRV — Central de Regulação de Vagas · Polícia Penal SC ·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20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🛡️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E2E8F0"/>
                </a:solidFill>
              </a:rPr>
              <a:t>Procedimentos Operacionais CRV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</a:rPr>
              <a:t>Central de Regulação de Vagas — Polícia Penal SC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2788920"/>
            <a:ext cx="54864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crv-dpp-sc.github.io/POP</a:t>
            </a:r>
            <a:endParaRPr lang="en-US" sz="13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DPP — Departamento de Polícia Penal / SEJURI</a:t>
            </a:r>
            <a:endParaRPr lang="en-US" sz="13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Plantão CRV 24h: (48) </a:t>
            </a:r>
            <a:r>
              <a:rPr lang="en-US" sz="11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3665-7330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 smtClean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crv@pp.sc.gov.br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4114800"/>
            <a:ext cx="54864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24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Res. Conjunta Interinstitucional nº 1/2026 · TJSC + SEJURI · DPP/SC · 2026</a:t>
            </a:r>
            <a:endParaRPr lang="en-US" sz="900" dirty="0"/>
          </a:p>
        </p:txBody>
      </p:sp>
      <p:pic>
        <p:nvPicPr>
          <p:cNvPr id="2050" name="Picture 2" descr="PP COLORIDO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795" y="0"/>
            <a:ext cx="1540410" cy="199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1616</Words>
  <Application>Microsoft Office PowerPoint</Application>
  <PresentationFormat>Apresentação na tela (16:9)</PresentationFormat>
  <Paragraphs>306</Paragraphs>
  <Slides>16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Procedimentos Operacionais CRV — Polícia Penal SC</dc:title>
  <dc:subject>PptxGenJS Presentation</dc:subject>
  <dc:creator>CRV — DPP/SEJURI</dc:creator>
  <cp:lastModifiedBy>RODRIGO</cp:lastModifiedBy>
  <cp:revision>4</cp:revision>
  <dcterms:created xsi:type="dcterms:W3CDTF">2026-03-17T14:46:19Z</dcterms:created>
  <dcterms:modified xsi:type="dcterms:W3CDTF">2026-03-17T15:08:38Z</dcterms:modified>
</cp:coreProperties>
</file>